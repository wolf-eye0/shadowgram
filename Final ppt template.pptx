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5.svg" ContentType="image/svg"/>
  <Override PartName="/ppt/media/image7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772400" cy="10058400"/>
  <p:embeddedFontLst>
    <p:embeddedFont>
      <p:font typeface="Hahmlet Bold"/>
      <p:bold r:id="rId8"/>
    </p:embeddedFont>
    <p:embeddedFont>
      <p:font typeface="Noto Sans CJK SC"/>
      <p:regular r:id="rId9"/>
      <p:bold r:id="rId9"/>
    </p:embeddedFont>
    <p:embeddedFont>
      <p:font typeface="Noto Sans Devanagari"/>
      <p:regular r:id="rId10"/>
      <p:bold r:id="rId1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font" Target="fonts/Font_1_Hahmlet_Bold_Bold.fntdata"/><Relationship Id="rId9" Type="http://schemas.openxmlformats.org/officeDocument/2006/relationships/font" Target="fonts/Font_2_Noto_Sans_CJK_SC_Regular.fntdata"/><Relationship Id="rId10" Type="http://schemas.openxmlformats.org/officeDocument/2006/relationships/font" Target="fonts/Font_3_Noto_Sans_Devanagari_Regular.fntdata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CEF2A-3F94-4B47-A791-0DCE5E41C6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8EBCD9-718A-4AB4-836C-288237583A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FA3D0-0A5A-4D7D-8C07-74E381E51A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FB11BA-AB29-4AC1-9CAE-3406683899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0043C8-D5EA-4FDC-9E4D-F81E3EDD5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904A15-B0E4-4843-B8C1-9A51DF5BD4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85DF15-5621-4085-8B84-8FD1F3CF9E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2FFD69-11E3-4FBE-B588-0BADC78C4A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986017-D3D5-4D6E-8C15-B09CA25986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8115B6-99B1-4C3E-AF63-D3B5E576AB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923BE-170A-483D-9F40-B22BE67007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14387040" y="27360"/>
            <a:ext cx="3831840" cy="1001160"/>
            <a:chOff x="14387040" y="27360"/>
            <a:chExt cx="3831840" cy="1001160"/>
          </a:xfrm>
        </p:grpSpPr>
        <p:grpSp>
          <p:nvGrpSpPr>
            <p:cNvPr id="62" name="Group 3"/>
            <p:cNvGrpSpPr/>
            <p:nvPr/>
          </p:nvGrpSpPr>
          <p:grpSpPr>
            <a:xfrm>
              <a:off x="14387040" y="27360"/>
              <a:ext cx="1036800" cy="1000800"/>
              <a:chOff x="14387040" y="27360"/>
              <a:chExt cx="1036800" cy="1000800"/>
            </a:xfrm>
          </p:grpSpPr>
          <p:sp>
            <p:nvSpPr>
              <p:cNvPr id="63" name="Freeform 4"/>
              <p:cNvSpPr/>
              <p:nvPr/>
            </p:nvSpPr>
            <p:spPr>
              <a:xfrm>
                <a:off x="14387040" y="27360"/>
                <a:ext cx="1036800" cy="1000800"/>
              </a:xfrm>
              <a:custGeom>
                <a:avLst/>
                <a:gdLst>
                  <a:gd name="textAreaLeft" fmla="*/ 0 w 1036800"/>
                  <a:gd name="textAreaRight" fmla="*/ 1037160 w 1036800"/>
                  <a:gd name="textAreaTop" fmla="*/ 0 h 1000800"/>
                  <a:gd name="textAreaBottom" fmla="*/ 1001160 h 1000800"/>
                </a:gdLst>
                <a:ahLst/>
                <a:cxnLst/>
                <a:rect l="textAreaLeft" t="textAreaTop" r="textAreaRight" b="textAreaBottom"/>
                <a:pathLst>
                  <a:path w="880491" h="850138">
                    <a:moveTo>
                      <a:pt x="0" y="0"/>
                    </a:moveTo>
                    <a:lnTo>
                      <a:pt x="880491" y="0"/>
                    </a:lnTo>
                    <a:lnTo>
                      <a:pt x="880491" y="850138"/>
                    </a:lnTo>
                    <a:lnTo>
                      <a:pt x="0" y="85013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1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" name="Group 5"/>
            <p:cNvGrpSpPr/>
            <p:nvPr/>
          </p:nvGrpSpPr>
          <p:grpSpPr>
            <a:xfrm>
              <a:off x="15545160" y="45000"/>
              <a:ext cx="2673720" cy="983520"/>
              <a:chOff x="15545160" y="45000"/>
              <a:chExt cx="2673720" cy="983520"/>
            </a:xfrm>
          </p:grpSpPr>
          <p:sp>
            <p:nvSpPr>
              <p:cNvPr id="65" name="Freeform 6"/>
              <p:cNvSpPr/>
              <p:nvPr/>
            </p:nvSpPr>
            <p:spPr>
              <a:xfrm>
                <a:off x="15545160" y="45000"/>
                <a:ext cx="2673720" cy="983520"/>
              </a:xfrm>
              <a:custGeom>
                <a:avLst/>
                <a:gdLst>
                  <a:gd name="textAreaLeft" fmla="*/ 0 w 2673720"/>
                  <a:gd name="textAreaRight" fmla="*/ 2674080 w 2673720"/>
                  <a:gd name="textAreaTop" fmla="*/ 0 h 983520"/>
                  <a:gd name="textAreaBottom" fmla="*/ 983880 h 983520"/>
                </a:gdLst>
                <a:ahLst/>
                <a:cxnLst/>
                <a:rect l="textAreaLeft" t="textAreaTop" r="textAreaRight" b="textAreaBottom"/>
                <a:pathLst>
                  <a:path w="2270379" h="835279">
                    <a:moveTo>
                      <a:pt x="0" y="0"/>
                    </a:moveTo>
                    <a:lnTo>
                      <a:pt x="2270379" y="0"/>
                    </a:lnTo>
                    <a:lnTo>
                      <a:pt x="2270379" y="835279"/>
                    </a:lnTo>
                    <a:lnTo>
                      <a:pt x="0" y="835279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2"/>
                <a:srcRect/>
                <a:stretch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" name="Freeform 7"/>
          <p:cNvSpPr/>
          <p:nvPr/>
        </p:nvSpPr>
        <p:spPr>
          <a:xfrm>
            <a:off x="5929920" y="8152560"/>
            <a:ext cx="6427440" cy="1748880"/>
          </a:xfrm>
          <a:custGeom>
            <a:avLst/>
            <a:gdLst>
              <a:gd name="textAreaLeft" fmla="*/ 0 w 6427440"/>
              <a:gd name="textAreaRight" fmla="*/ 6427800 w 6427440"/>
              <a:gd name="textAreaTop" fmla="*/ 0 h 1748880"/>
              <a:gd name="textAreaBottom" fmla="*/ 1749240 h 1748880"/>
            </a:gdLst>
            <a:ahLst/>
            <a:cxnLst/>
            <a:rect l="textAreaLeft" t="textAreaTop" r="textAreaRight" b="textAreaBottom"/>
            <a:pathLst>
              <a:path w="6427910" h="1749204">
                <a:moveTo>
                  <a:pt x="0" y="0"/>
                </a:moveTo>
                <a:lnTo>
                  <a:pt x="6427910" y="0"/>
                </a:lnTo>
                <a:lnTo>
                  <a:pt x="6427910" y="1749204"/>
                </a:lnTo>
                <a:lnTo>
                  <a:pt x="0" y="17492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reeform 8"/>
          <p:cNvSpPr/>
          <p:nvPr/>
        </p:nvSpPr>
        <p:spPr>
          <a:xfrm>
            <a:off x="14276520" y="6418080"/>
            <a:ext cx="4052880" cy="4114440"/>
          </a:xfrm>
          <a:custGeom>
            <a:avLst/>
            <a:gdLst>
              <a:gd name="textAreaLeft" fmla="*/ 0 w 4052880"/>
              <a:gd name="textAreaRight" fmla="*/ 4053240 w 405288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2863440" y="3263760"/>
            <a:ext cx="12560760" cy="21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7932"/>
              </a:lnSpc>
            </a:pPr>
            <a:r>
              <a:rPr lang="en-US" sz="76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SHADOWGRAM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799"/>
              </a:spcBef>
            </a:pPr>
            <a:r>
              <a:rPr lang="en-US" sz="2100" b="1" u="none" strike="noStrike">
                <a:solidFill>
                  <a:srgbClr val="0284C7"/>
                </a:solidFill>
                <a:effectLst/>
                <a:uFillTx/>
                <a:latin typeface="Segoe UI"/>
              </a:rPr>
              <a:t>In-Flight Behavioral Hypergraph Forensics &amp; Autonomous AI Swarm Defense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10"/>
          <p:cNvSpPr/>
          <p:nvPr/>
        </p:nvSpPr>
        <p:spPr>
          <a:xfrm rot="10800000">
            <a:off x="360" y="-237240"/>
            <a:ext cx="4052880" cy="4114440"/>
          </a:xfrm>
          <a:custGeom>
            <a:avLst/>
            <a:gdLst>
              <a:gd name="textAreaLeft" fmla="*/ 0 w 4052880"/>
              <a:gd name="textAreaRight" fmla="*/ 4053240 w 405288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4053078" h="4114800">
                <a:moveTo>
                  <a:pt x="0" y="0"/>
                </a:moveTo>
                <a:lnTo>
                  <a:pt x="4053078" y="0"/>
                </a:lnTo>
                <a:lnTo>
                  <a:pt x="40530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reeform 11"/>
          <p:cNvSpPr/>
          <p:nvPr/>
        </p:nvSpPr>
        <p:spPr>
          <a:xfrm>
            <a:off x="17640" y="6180480"/>
            <a:ext cx="3106440" cy="4114440"/>
          </a:xfrm>
          <a:custGeom>
            <a:avLst/>
            <a:gdLst>
              <a:gd name="textAreaLeft" fmla="*/ 0 w 3106440"/>
              <a:gd name="textAreaRight" fmla="*/ 3106800 w 3106440"/>
              <a:gd name="textAreaTop" fmla="*/ 0 h 4114440"/>
              <a:gd name="textAreaBottom" fmla="*/ 4114800 h 4114440"/>
            </a:gdLst>
            <a:ahLst/>
            <a:cxnLst/>
            <a:rect l="textAreaLeft" t="textAreaTop" r="textAreaRight" b="textAreaBottom"/>
            <a:pathLst>
              <a:path w="3106674" h="4114800">
                <a:moveTo>
                  <a:pt x="0" y="0"/>
                </a:moveTo>
                <a:lnTo>
                  <a:pt x="3106674" y="0"/>
                </a:lnTo>
                <a:lnTo>
                  <a:pt x="31066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2499840" y="5799960"/>
            <a:ext cx="1328760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301"/>
              </a:lnSpc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TEAM: CRAFTY CREW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Jyothi Engineering College (Autonomous), Cheruthuruthy, Thrissur, Kerala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1600" b="1" u="none" strike="noStrike">
                <a:solidFill>
                  <a:srgbClr val="0284C7"/>
                </a:solidFill>
                <a:effectLst/>
                <a:uFillTx/>
                <a:latin typeface="Segoe UI"/>
              </a:rPr>
              <a:t>TRACK 04: SYNTHETIC IDENTITY &amp; KYC FRAUD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Aiswarya Kallayil Rajesh (AI &amp; DS) — Frontend &amp; 3D WebGL Lead   |   Alan E Alexander (AI &amp; DS) — Swarm Runner &amp; Telemetry Lead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Mohammed Nihad PC (Cyber Security) — Forensics &amp; Graph Engine Lead   |   Ashlin Theres James (AI &amp; DS) — Compliance &amp; Legal SAR Lead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/>
          <p:cNvSpPr/>
          <p:nvPr/>
        </p:nvSpPr>
        <p:spPr>
          <a:xfrm flipV="1">
            <a:off x="860400" y="-8127720"/>
            <a:ext cx="360" cy="19087200"/>
          </a:xfrm>
          <a:prstGeom prst="line">
            <a:avLst/>
          </a:prstGeom>
          <a:ln w="95250">
            <a:solidFill>
              <a:srgbClr val="8D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AutoShape 3"/>
          <p:cNvSpPr/>
          <p:nvPr/>
        </p:nvSpPr>
        <p:spPr>
          <a:xfrm>
            <a:off x="-399600" y="981000"/>
            <a:ext cx="19087200" cy="360"/>
          </a:xfrm>
          <a:prstGeom prst="line">
            <a:avLst/>
          </a:prstGeom>
          <a:ln w="952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reeform 4"/>
          <p:cNvSpPr/>
          <p:nvPr/>
        </p:nvSpPr>
        <p:spPr>
          <a:xfrm>
            <a:off x="4757400" y="3583080"/>
            <a:ext cx="8773200" cy="3120120"/>
          </a:xfrm>
          <a:custGeom>
            <a:avLst/>
            <a:gdLst>
              <a:gd name="textAreaLeft" fmla="*/ 0 w 8773200"/>
              <a:gd name="textAreaRight" fmla="*/ 8773560 w 8773200"/>
              <a:gd name="textAreaTop" fmla="*/ 0 h 3120120"/>
              <a:gd name="textAreaBottom" fmla="*/ 3120480 h 3120120"/>
            </a:gdLst>
            <a:ahLst/>
            <a:cxnLst/>
            <a:rect l="textAreaLeft" t="textAreaTop" r="textAreaRight" b="textAreaBottom"/>
            <a:pathLst>
              <a:path w="8773437" h="312055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1100160" y="1149840"/>
            <a:ext cx="159994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9099"/>
              </a:lnSpc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PROBLEM STATEMENT: AI SWARM CRISIS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110016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DC2626"/>
                </a:solidFill>
                <a:effectLst/>
                <a:uFillTx/>
                <a:latin typeface="Hahmlet Bold"/>
              </a:rPr>
              <a:t>01. CO-ORDINATED AI SWARMS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Automated Bot Swarms: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Attackers use AI bots to apply for hundreds of loans at once.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Fake Unique Profiles: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AI generates different names, bios, and loan reasons for every bot.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+211% Surge in Fraud: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Massive rise in automated attacks on instant micro-lending and BNPL apps.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Flash Defaults: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Bots take ₹5,000–₹25,000 instant loans and disappear before the first EMI.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659412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D97706"/>
                </a:solidFill>
                <a:effectLst/>
                <a:uFillTx/>
                <a:latin typeface="Hahmlet Bold"/>
              </a:rPr>
              <a:t>02. WHY LEGACY DEFENSES FAIL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Behavioral Tools (BioCatch,Sift):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Needs old user history; blind to brand-new fake accounts.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Device &amp; IP Trackers: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Easily bypassed using rotating 4G/5G mobile proxies.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CAPTCHA Solvers: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Modern Vision-AI solves visual puzzles with &gt;70% accuracy.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The Big Blindspot: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Current tools check one account at a time, completely missing the swarm.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7"/>
          <p:cNvSpPr/>
          <p:nvPr/>
        </p:nvSpPr>
        <p:spPr>
          <a:xfrm>
            <a:off x="1208808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4338CA"/>
                </a:solidFill>
                <a:effectLst/>
                <a:uFillTx/>
                <a:latin typeface="Hahmlet Bold"/>
              </a:rPr>
              <a:t>03. PRE-KYC COST BLEED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Verification Cost per Bot: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   • Aadhaar e-KYC API: ₹3.00 (UIDAI fee)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   • PAN Verification: ₹2.00 per check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   • Video Face Liveness: ₹6.00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   • Credit Bureau Pull: ₹50.00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Total Lost per Bot: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₹61.00 wasted on fake applicants before any loan decision!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Attack Impact: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10,000 bots bleed ₹6,10,000 in non-refundable KYC fees.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★ Core Goal: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Stop fake bots before paying for expensive KYC verification!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2"/>
          <p:cNvSpPr/>
          <p:nvPr/>
        </p:nvSpPr>
        <p:spPr>
          <a:xfrm>
            <a:off x="1100160" y="1149840"/>
            <a:ext cx="159994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9099"/>
              </a:lnSpc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PROPOSED SOLUTION: TWO-KEY HYPERGRAPH DEFENSE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AutoShape 3"/>
          <p:cNvSpPr/>
          <p:nvPr/>
        </p:nvSpPr>
        <p:spPr>
          <a:xfrm flipV="1">
            <a:off x="860400" y="-8127720"/>
            <a:ext cx="360" cy="19087200"/>
          </a:xfrm>
          <a:prstGeom prst="line">
            <a:avLst/>
          </a:prstGeom>
          <a:ln w="95250">
            <a:solidFill>
              <a:srgbClr val="8D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-399600" y="981000"/>
            <a:ext cx="19087200" cy="360"/>
          </a:xfrm>
          <a:prstGeom prst="line">
            <a:avLst/>
          </a:prstGeom>
          <a:ln w="952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reeform 5"/>
          <p:cNvSpPr/>
          <p:nvPr/>
        </p:nvSpPr>
        <p:spPr>
          <a:xfrm>
            <a:off x="4757400" y="3583080"/>
            <a:ext cx="8773200" cy="3120120"/>
          </a:xfrm>
          <a:custGeom>
            <a:avLst/>
            <a:gdLst>
              <a:gd name="textAreaLeft" fmla="*/ 0 w 8773200"/>
              <a:gd name="textAreaRight" fmla="*/ 8773560 w 8773200"/>
              <a:gd name="textAreaTop" fmla="*/ 0 h 3120120"/>
              <a:gd name="textAreaBottom" fmla="*/ 3120480 h 3120120"/>
            </a:gdLst>
            <a:ahLst/>
            <a:cxnLst/>
            <a:rect l="textAreaLeft" t="textAreaTop" r="textAreaRight" b="textAreaBottom"/>
            <a:pathLst>
              <a:path w="8773437" h="312055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110016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0284C7"/>
                </a:solidFill>
                <a:effectLst/>
                <a:uFillTx/>
                <a:latin typeface="Hahmlet Bold"/>
              </a:rPr>
              <a:t>THE TWO-KEY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Key 1 (&lt;0.02ms Fast Filter):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Catches simple bots on Step 1 (no mouse movement, instant script clicks).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Key 2 (Hypergraph Engine):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Catches smart bots by checking relationships between all active users.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Group Detection: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Groups coordinated bots together into clusters using graph modularity (Q = 0.81).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Zero Cloud Delay: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Runs 100% locally on the bank server in real time.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6"/>
          <p:cNvSpPr/>
          <p:nvPr/>
        </p:nvSpPr>
        <p:spPr>
          <a:xfrm>
            <a:off x="659412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059669"/>
                </a:solidFill>
                <a:effectLst/>
                <a:uFillTx/>
                <a:latin typeface="Hahmlet Bold"/>
              </a:rPr>
              <a:t>5-LAYER INTERACTION PHYSICS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Layer 1 (Timing):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Spots bots submitting forms in synchronized bursts.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Layer 2 (Navigation):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Spots identical form-fill sequences and click paths.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Layer 3 (Loan Reason):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Semantic text vectors find similar story patterns.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Layer 4 (Mouse Motion):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Human hand tremor (8–12 Hz) vs smooth bot curves.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Layer 5 (Hardware):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WebGL &amp; Canvas browser fingerprints.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00"/>
              </a:spcAf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★ 3-Layer Rule:</a:t>
            </a:r>
            <a:r>
              <a:rPr lang="en-US" sz="17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Connects accounts only if 3+ independent layers match!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1208808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7C3AED"/>
                </a:solidFill>
                <a:effectLst/>
                <a:uFillTx/>
                <a:latin typeface="Hahmlet Bold"/>
              </a:rPr>
              <a:t>ETHICAL &amp; REVERSIBLE RAILS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₹1 UPI Step-Up: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Trapped users can clear their account in &lt;10s via a ₹1 UPI check.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Why Bots Fail UPI: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Headless bots cannot bypass SIM-binding or secret MPINs at scale.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Capital Saved: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Saves ₹61.00 per bot by locking out fake KYC lookups.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2"/>
          <p:cNvSpPr/>
          <p:nvPr/>
        </p:nvSpPr>
        <p:spPr>
          <a:xfrm>
            <a:off x="1100160" y="1149840"/>
            <a:ext cx="159994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9099"/>
              </a:lnSpc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TECHNOLOGY STACK: 4-STATION ECOSYSTEM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AutoShape 3"/>
          <p:cNvSpPr/>
          <p:nvPr/>
        </p:nvSpPr>
        <p:spPr>
          <a:xfrm flipV="1">
            <a:off x="860400" y="-8127720"/>
            <a:ext cx="360" cy="19087200"/>
          </a:xfrm>
          <a:prstGeom prst="line">
            <a:avLst/>
          </a:prstGeom>
          <a:ln w="95250">
            <a:solidFill>
              <a:srgbClr val="8D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AutoShape 4"/>
          <p:cNvSpPr/>
          <p:nvPr/>
        </p:nvSpPr>
        <p:spPr>
          <a:xfrm>
            <a:off x="-399600" y="981000"/>
            <a:ext cx="19087200" cy="360"/>
          </a:xfrm>
          <a:prstGeom prst="line">
            <a:avLst/>
          </a:prstGeom>
          <a:ln w="952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reeform 5"/>
          <p:cNvSpPr/>
          <p:nvPr/>
        </p:nvSpPr>
        <p:spPr>
          <a:xfrm>
            <a:off x="4757400" y="3583080"/>
            <a:ext cx="8773200" cy="3120120"/>
          </a:xfrm>
          <a:custGeom>
            <a:avLst/>
            <a:gdLst>
              <a:gd name="textAreaLeft" fmla="*/ 0 w 8773200"/>
              <a:gd name="textAreaRight" fmla="*/ 8773560 w 8773200"/>
              <a:gd name="textAreaTop" fmla="*/ 0 h 3120120"/>
              <a:gd name="textAreaBottom" fmla="*/ 3120480 h 3120120"/>
            </a:gdLst>
            <a:ahLst/>
            <a:cxnLst/>
            <a:rect l="textAreaLeft" t="textAreaTop" r="textAreaRight" b="textAreaBottom"/>
            <a:pathLst>
              <a:path w="8773437" h="312055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5"/>
          <p:cNvSpPr/>
          <p:nvPr/>
        </p:nvSpPr>
        <p:spPr>
          <a:xfrm>
            <a:off x="1100160" y="2350080"/>
            <a:ext cx="7849800" cy="354960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100" b="1" u="none" strike="noStrike">
                <a:solidFill>
                  <a:srgbClr val="0284C7"/>
                </a:solidFill>
                <a:effectLst/>
                <a:uFillTx/>
                <a:latin typeface="Hahmlet Bold"/>
              </a:rPr>
              <a:t>STATION 2: GATEWAY &amp; GRAPH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FastAPI &amp; Uvicorn: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High-speed event ingestion on 0.0.0.0:8000 with WebSockets.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NetworkX &amp; NumPy: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Multi-layer graph math and community clustering algorithms.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SQLite &amp; SQLAlchemy: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Fast, thread-safe database for sessions and telemetry.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Local CPU Vectors: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384-dimensional text embeddings running offline in &lt;0.2ms.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6"/>
          <p:cNvSpPr/>
          <p:nvPr/>
        </p:nvSpPr>
        <p:spPr>
          <a:xfrm>
            <a:off x="9349920" y="2350080"/>
            <a:ext cx="7849800" cy="354960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100" b="1" u="none" strike="noStrike">
                <a:solidFill>
                  <a:srgbClr val="059669"/>
                </a:solidFill>
                <a:effectLst/>
                <a:uFillTx/>
                <a:latin typeface="Hahmlet Bold"/>
              </a:rPr>
              <a:t>STATION 3: ZERO-PII TELEMETRY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Zero-PII SDK: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Tracks mouse and typing timing; never records text or passwords.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Typing Dynamics: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Measures millisecond timing between key presses.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Honey-DOM Trap: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Hidden button that only automated bots click.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HMAC-SHA256: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Cryptographic packet signing stops fake cURL requests.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7"/>
          <p:cNvSpPr/>
          <p:nvPr/>
        </p:nvSpPr>
        <p:spPr>
          <a:xfrm>
            <a:off x="1100160" y="6249960"/>
            <a:ext cx="7849800" cy="354960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100" b="1" u="none" strike="noStrike">
                <a:solidFill>
                  <a:srgbClr val="D97706"/>
                </a:solidFill>
                <a:effectLst/>
                <a:uFillTx/>
                <a:latin typeface="Hahmlet Bold"/>
              </a:rPr>
              <a:t>STATIONS 1 &amp; 3: 3D COCKPIT &amp; SWARMS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Three.js 3D Cockpit: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Interactive 60 FPS graph visualizer with 1-click quarantine.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Playwright Swarm: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Launches 20 synchronized bots testing the system (&lt;600MB RAM).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Realistic Mouse Curves: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Simulates natural mouse movement physics.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NVIDIA NIM API: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Fast persona generation for test attacks.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8"/>
          <p:cNvSpPr/>
          <p:nvPr/>
        </p:nvSpPr>
        <p:spPr>
          <a:xfrm>
            <a:off x="9349920" y="6249960"/>
            <a:ext cx="7849800" cy="354960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100" b="1" u="none" strike="noStrike">
                <a:solidFill>
                  <a:srgbClr val="7C3AED"/>
                </a:solidFill>
                <a:effectLst/>
                <a:uFillTx/>
                <a:latin typeface="Hahmlet Bold"/>
              </a:rPr>
              <a:t>STATION 4: COURTROOM SAR &amp; COMPLIANCE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ReportLab PDF: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Instant 2-page bank-grade legal report generated in &lt;20ms.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Statistical Proof: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500 graph permutations prove bots are coordinated (p = 0.0002).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HMAC Digital Seal: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Cryptographic signature for courtroom admissibility.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Banking Compliance:</a:t>
            </a: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Aligns with RBI Digital Lending &amp; ECOA fair lending guidelines.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/>
          <p:nvPr/>
        </p:nvSpPr>
        <p:spPr>
          <a:xfrm>
            <a:off x="1100160" y="1149840"/>
            <a:ext cx="159994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9099"/>
              </a:lnSpc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Hahmlet Bold"/>
              </a:rPr>
              <a:t>PROTOTYPE DEMO &amp; CYBER RANGE BENCHMARKS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AutoShape 3"/>
          <p:cNvSpPr/>
          <p:nvPr/>
        </p:nvSpPr>
        <p:spPr>
          <a:xfrm flipV="1">
            <a:off x="860400" y="-8127720"/>
            <a:ext cx="360" cy="19087200"/>
          </a:xfrm>
          <a:prstGeom prst="line">
            <a:avLst/>
          </a:prstGeom>
          <a:ln w="95250">
            <a:solidFill>
              <a:srgbClr val="8D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AutoShape 4"/>
          <p:cNvSpPr/>
          <p:nvPr/>
        </p:nvSpPr>
        <p:spPr>
          <a:xfrm>
            <a:off x="-399600" y="981000"/>
            <a:ext cx="19087200" cy="360"/>
          </a:xfrm>
          <a:prstGeom prst="line">
            <a:avLst/>
          </a:prstGeom>
          <a:ln w="952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5"/>
          <p:cNvSpPr/>
          <p:nvPr/>
        </p:nvSpPr>
        <p:spPr>
          <a:xfrm>
            <a:off x="4757400" y="3583080"/>
            <a:ext cx="8773200" cy="3120120"/>
          </a:xfrm>
          <a:custGeom>
            <a:avLst/>
            <a:gdLst>
              <a:gd name="textAreaLeft" fmla="*/ 0 w 8773200"/>
              <a:gd name="textAreaRight" fmla="*/ 8773560 w 8773200"/>
              <a:gd name="textAreaTop" fmla="*/ 0 h 3120120"/>
              <a:gd name="textAreaBottom" fmla="*/ 3120480 h 3120120"/>
            </a:gdLst>
            <a:ahLst/>
            <a:cxnLst/>
            <a:rect l="textAreaLeft" t="textAreaTop" r="textAreaRight" b="textAreaBottom"/>
            <a:pathLst>
              <a:path w="8773437" h="3120557">
                <a:moveTo>
                  <a:pt x="0" y="0"/>
                </a:moveTo>
                <a:lnTo>
                  <a:pt x="8773436" y="0"/>
                </a:lnTo>
                <a:lnTo>
                  <a:pt x="8773436" y="3120556"/>
                </a:lnTo>
                <a:lnTo>
                  <a:pt x="0" y="31205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5"/>
          <p:cNvSpPr/>
          <p:nvPr/>
        </p:nvSpPr>
        <p:spPr>
          <a:xfrm>
            <a:off x="110016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0284C7"/>
                </a:solidFill>
                <a:effectLst/>
                <a:uFillTx/>
                <a:latin typeface="Hahmlet Bold"/>
              </a:rPr>
              <a:t>4-STATION CYBER RANGE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Station 1 (Alan @ 10.215.30.174):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Playwright swarm launches 20 stealth bots in 1.4s.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Station 2 (Pete @ 10.215.30.162):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Central Fedora gateway running live graph clustering.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Station 3 (Aiswarya @ 10.215.30.204):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Borrower portal with live ₹1 UPI verification popup.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Station 4 ( Ashlin):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Generates bank-grade 2-page courtroom PDF reports.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6"/>
          <p:cNvSpPr/>
          <p:nvPr/>
        </p:nvSpPr>
        <p:spPr>
          <a:xfrm>
            <a:off x="659412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059669"/>
                </a:solidFill>
                <a:effectLst/>
                <a:uFillTx/>
                <a:latin typeface="Hahmlet Bold"/>
              </a:rPr>
              <a:t>TEST RESULTS (120 SESSIONS)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100% Precision: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Zero real users wrongly blocked.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100% Recall: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Caught all 20/20 stealth bots (vs 0% caught by traditional tools).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Math Proof: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Graph Modularity Q = 0.8118 (p = 0.0002, 99.98% confidence).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Real Savings: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Saved ₹2,440 across 40 blocked test attacks.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12088080" y="2400120"/>
            <a:ext cx="5099760" cy="7299720"/>
          </a:xfrm>
          <a:prstGeom prst="roundRect">
            <a:avLst>
              <a:gd name="adj" fmla="val 16667"/>
            </a:avLst>
          </a:prstGeom>
          <a:noFill/>
          <a:ln w="22225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tIns="255960" rIns="255960" bIns="228600" anchor="ctr">
            <a:noAutofit/>
          </a:bodyPr>
          <a:p>
            <a:pPr algn="ctr" defTabSz="914400">
              <a:lnSpc>
                <a:spcPct val="100000"/>
              </a:lnSpc>
              <a:spcAft>
                <a:spcPts val="1400"/>
              </a:spcAft>
            </a:pPr>
            <a:r>
              <a:rPr lang="en-US" sz="2400" b="1" u="none" strike="noStrike">
                <a:solidFill>
                  <a:srgbClr val="4338CA"/>
                </a:solidFill>
                <a:effectLst/>
                <a:uFillTx/>
                <a:latin typeface="Hahmlet Bold"/>
              </a:rPr>
              <a:t>5-ACT LIVE DEMO SCRIPT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Act 1 (Real User):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Aiswarya applies naturally -&gt; Key 1 &amp; 2 clear -&gt; Instant approval.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Act 2 (Bot Swarm):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Alan triggers 20 bots -&gt; 3D cockpit collapses them into a red cluster.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Act 3 (1-Click Block):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Pete clicks quarantine -&gt; All 20 bots locked down instantly.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Act 4 (UPI Recovery):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Blocked user applies -&gt; ₹1 UPI popup appears -&gt; Cleared in &lt;10s!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</a:pPr>
            <a:r>
              <a:rPr lang="en-US" sz="17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• Act 5 (Legal Report):</a:t>
            </a:r>
            <a:r>
              <a:rPr lang="en-US" sz="1750" b="0" u="none" strike="noStrike">
                <a:solidFill>
                  <a:srgbClr val="1E293B"/>
                </a:solidFill>
                <a:effectLst/>
                <a:uFillTx/>
                <a:latin typeface="Segoe UI"/>
              </a:rPr>
              <a:t> Download 2-page courtroom-ready PDF report with HMAC seal.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DAHXB26GUm4</dc:identifier>
  <dc:language>en-US</dc:language>
  <cp:lastModifiedBy/>
  <dcterms:modified xsi:type="dcterms:W3CDTF">2026-10-07T05:01:46Z</dcterms:modified>
  <cp:revision>2</cp:revision>
  <dc:subject/>
  <dc:title>Hackathena PPT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