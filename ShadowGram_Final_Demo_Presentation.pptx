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ahmlet Bold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font1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7002" y="27353"/>
            <a:ext cx="3832142" cy="1001347"/>
            <a:chOff x="0" y="0"/>
            <a:chExt cx="5109523" cy="1335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2657" cy="1335129"/>
              <a:chOff x="0" y="0"/>
              <a:chExt cx="880440" cy="85017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80491" cy="850138"/>
              </a:xfrm>
              <a:custGeom>
                <a:avLst/>
                <a:gdLst/>
                <a:ahLst/>
                <a:cxnLst/>
                <a:rect r="r" b="b" t="t" l="l"/>
                <a:pathLst>
                  <a:path h="850138" w="880491">
                    <a:moveTo>
                      <a:pt x="0" y="0"/>
                    </a:moveTo>
                    <a:lnTo>
                      <a:pt x="880491" y="0"/>
                    </a:lnTo>
                    <a:lnTo>
                      <a:pt x="880491" y="850138"/>
                    </a:lnTo>
                    <a:lnTo>
                      <a:pt x="0" y="8501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8" t="0" r="-2" b="-4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44006" y="23315"/>
              <a:ext cx="3565517" cy="1311815"/>
              <a:chOff x="0" y="0"/>
              <a:chExt cx="2270430" cy="83533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270379" cy="835279"/>
              </a:xfrm>
              <a:custGeom>
                <a:avLst/>
                <a:gdLst/>
                <a:ahLst/>
                <a:cxnLst/>
                <a:rect r="r" b="b" t="t" l="l"/>
                <a:pathLst>
                  <a:path h="835279" w="2270379">
                    <a:moveTo>
                      <a:pt x="0" y="0"/>
                    </a:moveTo>
                    <a:lnTo>
                      <a:pt x="2270379" y="0"/>
                    </a:lnTo>
                    <a:lnTo>
                      <a:pt x="2270379" y="835279"/>
                    </a:lnTo>
                    <a:lnTo>
                      <a:pt x="0" y="8352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68" r="-2" b="-74"/>
                </a:stretch>
              </a:blip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5930045" y="8152672"/>
            <a:ext cx="6427910" cy="1749204"/>
          </a:xfrm>
          <a:custGeom>
            <a:avLst/>
            <a:gdLst/>
            <a:ahLst/>
            <a:cxnLst/>
            <a:rect r="r" b="b" t="t" l="l"/>
            <a:pathLst>
              <a:path h="1749204" w="6427910">
                <a:moveTo>
                  <a:pt x="0" y="0"/>
                </a:moveTo>
                <a:lnTo>
                  <a:pt x="6427910" y="0"/>
                </a:lnTo>
                <a:lnTo>
                  <a:pt x="6427910" y="1749204"/>
                </a:lnTo>
                <a:lnTo>
                  <a:pt x="0" y="1749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341" r="0" b="-1534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76535" y="6418117"/>
            <a:ext cx="4053078" cy="4114800"/>
          </a:xfrm>
          <a:custGeom>
            <a:avLst/>
            <a:gdLst/>
            <a:ahLst/>
            <a:cxnLst/>
            <a:rect r="r" b="b" t="t" l="l"/>
            <a:pathLst>
              <a:path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63504" y="3263900"/>
            <a:ext cx="12560992" cy="219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2"/>
              </a:lnSpc>
              <a:defRPr sz="7600" b="1">
                <a:solidFill>
                  <a:srgbClr val="0F172A"/>
                </a:solidFill>
                <a:latin typeface="Hahmlet Bold"/>
              </a:defRPr>
            </a:pPr>
            <a:r>
              <a:t>SHADOWGRAM</a:t>
            </a:r>
          </a:p>
          <a:p>
            <a:pPr algn="ctr">
              <a:spcBef>
                <a:spcPts val="800"/>
              </a:spcBef>
              <a:defRPr sz="2100" b="1">
                <a:solidFill>
                  <a:srgbClr val="0284C7"/>
                </a:solidFill>
                <a:latin typeface="Segoe UI"/>
              </a:defRPr>
            </a:pPr>
            <a:r>
              <a:t>In-Flight Behavioral Hypergraph Forensics &amp; Autonomous AI Swarm Defense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0" y="-237650"/>
            <a:ext cx="4053078" cy="4114800"/>
          </a:xfrm>
          <a:custGeom>
            <a:avLst/>
            <a:gdLst/>
            <a:ahLst/>
            <a:cxnLst/>
            <a:rect r="r" b="b" t="t" l="l"/>
            <a:pathLst>
              <a:path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53" y="6180468"/>
            <a:ext cx="3106674" cy="4114800"/>
          </a:xfrm>
          <a:custGeom>
            <a:avLst/>
            <a:gdLst/>
            <a:ahLst/>
            <a:cxnLst/>
            <a:rect r="r" b="b" t="t" l="l"/>
            <a:pathLst>
              <a:path h="4114800" w="3106674">
                <a:moveTo>
                  <a:pt x="0" y="0"/>
                </a:moveTo>
                <a:lnTo>
                  <a:pt x="3106674" y="0"/>
                </a:lnTo>
                <a:lnTo>
                  <a:pt x="31066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00000" y="5800000"/>
            <a:ext cx="13288000" cy="3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6300"/>
              </a:lnSpc>
              <a:defRPr sz="2800" b="1">
                <a:solidFill>
                  <a:srgbClr val="0F172A"/>
                </a:solidFill>
                <a:latin typeface="Hahmlet Bold"/>
              </a:defRPr>
            </a:pPr>
            <a:r>
              <a:t>TEAM: CRAFTY CREW</a:t>
            </a:r>
          </a:p>
          <a:p>
            <a:pPr algn="ctr"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Jyothi Engineering College (Autonomous), Cheruthuruthy, Thrissur, Kerala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0284C7"/>
                </a:solidFill>
                <a:latin typeface="Segoe UI"/>
              </a:defRPr>
            </a:pPr>
            <a:r>
              <a:t>TRACK 04: SYNTHETIC IDENTITY &amp; KYC FRAUD</a:t>
            </a:r>
          </a:p>
          <a:p>
            <a:pPr algn="ctr">
              <a:defRPr sz="1550">
                <a:solidFill>
                  <a:srgbClr val="0F172A"/>
                </a:solidFill>
                <a:latin typeface="Segoe UI"/>
              </a:defRPr>
            </a:pPr>
            <a:r>
              <a:t>Aiswarya Kallayil Rajesh (AI &amp; DS) — Frontend &amp; 3D WebGL Lead   |   Alan E Alexander (AI &amp; DS) — Swarm Runner &amp; Telemetry Lead</a:t>
            </a:r>
          </a:p>
          <a:p>
            <a:pPr algn="ctr">
              <a:defRPr sz="1550">
                <a:solidFill>
                  <a:srgbClr val="0F172A"/>
                </a:solidFill>
                <a:latin typeface="Segoe UI"/>
              </a:defRPr>
            </a:pPr>
            <a:r>
              <a:t>Mohammed Nihad PC (Cyber Security) — Forensics &amp; Graph Engine Lead   |   Ashlin Theres James (AI &amp; DS) — Compliance &amp; Legal SAR Lead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60467" y="-8127811"/>
            <a:ext cx="0" cy="19087298"/>
          </a:xfrm>
          <a:prstGeom prst="line">
            <a:avLst/>
          </a:prstGeom>
          <a:ln cap="flat" w="95250">
            <a:solidFill>
              <a:srgbClr val="8D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399649" y="981075"/>
            <a:ext cx="1908729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757282" y="3583222"/>
            <a:ext cx="8773437" cy="3120557"/>
          </a:xfrm>
          <a:custGeom>
            <a:avLst/>
            <a:gdLst/>
            <a:ahLst/>
            <a:cxnLst/>
            <a:rect r="r" b="b" t="t" l="l"/>
            <a:pathLst>
              <a:path h="3120557" w="877343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0000" y="1150000"/>
            <a:ext cx="160000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defRPr sz="3600" b="1">
                <a:solidFill>
                  <a:srgbClr val="0F172A"/>
                </a:solidFill>
                <a:latin typeface="Hahmlet Bold"/>
              </a:defRPr>
            </a:pPr>
            <a:r>
              <a:t>PROBLEM STATEMENT: AI SWARM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0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DC2626"/>
                </a:solidFill>
                <a:latin typeface="Hahmlet Bold"/>
              </a:defRPr>
            </a:pPr>
            <a:r>
              <a:t>01. CO-ORDINATED AI SWARMS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Automated Bot Swarms:</a:t>
            </a:r>
            <a:r>
              <a:rPr sz="1750" b="0">
                <a:solidFill>
                  <a:srgbClr val="1E293B"/>
                </a:solidFill>
                <a:latin typeface="Segoe UI"/>
              </a:rPr>
              <a:t> Attackers use AI bots to apply for hundreds of loans at once.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Fake Unique Profiles:</a:t>
            </a:r>
            <a:r>
              <a:rPr sz="1750" b="0">
                <a:solidFill>
                  <a:srgbClr val="1E293B"/>
                </a:solidFill>
                <a:latin typeface="Segoe UI"/>
              </a:rPr>
              <a:t> AI generates different names, bios, and loan reasons for every bot.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+211% Surge in Fraud:</a:t>
            </a:r>
            <a:r>
              <a:rPr sz="1750" b="0">
                <a:solidFill>
                  <a:srgbClr val="1E293B"/>
                </a:solidFill>
                <a:latin typeface="Segoe UI"/>
              </a:rPr>
              <a:t> Massive rise in automated attacks on instant micro-lending and BNPL apps.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Flash Defaults:</a:t>
            </a:r>
            <a:r>
              <a:rPr sz="1750" b="0">
                <a:solidFill>
                  <a:srgbClr val="1E293B"/>
                </a:solidFill>
                <a:latin typeface="Segoe UI"/>
              </a:rPr>
              <a:t> Bots take ₹5,000–₹25,000 instant loans and disappear before the first EMI.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4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D97706"/>
                </a:solidFill>
                <a:latin typeface="Hahmlet Bold"/>
              </a:defRPr>
            </a:pPr>
            <a:r>
              <a:t>02. WHY DEFENSES FAIL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Behavioral Tools (BioCatch):</a:t>
            </a:r>
            <a:r>
              <a:rPr sz="1750" b="0">
                <a:solidFill>
                  <a:srgbClr val="1E293B"/>
                </a:solidFill>
                <a:latin typeface="Segoe UI"/>
              </a:rPr>
              <a:t> Needs old user history; blind to brand-new fake accounts.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Device &amp; IP Trackers:</a:t>
            </a:r>
            <a:r>
              <a:rPr sz="1750" b="0">
                <a:solidFill>
                  <a:srgbClr val="1E293B"/>
                </a:solidFill>
                <a:latin typeface="Segoe UI"/>
              </a:rPr>
              <a:t> Easily bypassed using rotating 4G/5G mobile proxies.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CAPTCHA Solvers:</a:t>
            </a:r>
            <a:r>
              <a:rPr sz="1750" b="0">
                <a:solidFill>
                  <a:srgbClr val="1E293B"/>
                </a:solidFill>
                <a:latin typeface="Segoe UI"/>
              </a:rPr>
              <a:t> Modern Vision-AI solves visual puzzles with &gt;70% accuracy.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The Big Blindspot:</a:t>
            </a:r>
            <a:r>
              <a:rPr sz="1750" b="0">
                <a:solidFill>
                  <a:srgbClr val="1E293B"/>
                </a:solidFill>
                <a:latin typeface="Segoe UI"/>
              </a:rPr>
              <a:t> Current tools check one account at a time, completely missing the swarm.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88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4338CA"/>
                </a:solidFill>
                <a:latin typeface="Hahmlet Bold"/>
              </a:defRPr>
            </a:pPr>
            <a:r>
              <a:t>03. PRE-KYC COST BLEED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Verification Cost per Bot:</a:t>
            </a:r>
            <a:r>
              <a:rPr sz="1700" b="0">
                <a:solidFill>
                  <a:srgbClr val="1E293B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    • Aadhaar e-KYC API: ₹3.00 (UIDAI fee)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    • PAN Verification: ₹2.00 per check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    • Video Face Liveness: ₹6.00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    • Credit Bureau Pull: ₹50.00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Total Lost per Bot:</a:t>
            </a:r>
            <a:r>
              <a:rPr sz="1700" b="0">
                <a:solidFill>
                  <a:srgbClr val="1E293B"/>
                </a:solidFill>
                <a:latin typeface="Segoe UI"/>
              </a:rPr>
              <a:t> ₹61.00 wasted on fake applicants before any loan decision!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Attack Impact:</a:t>
            </a:r>
            <a:r>
              <a:rPr sz="1700" b="0">
                <a:solidFill>
                  <a:srgbClr val="1E293B"/>
                </a:solidFill>
                <a:latin typeface="Segoe UI"/>
              </a:rPr>
              <a:t> 10,000 bots bleed ₹6,10,000 in non-refundable KYC fees.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★ Core Goal:</a:t>
            </a:r>
            <a:r>
              <a:rPr sz="1700" b="0">
                <a:solidFill>
                  <a:srgbClr val="1E293B"/>
                </a:solidFill>
                <a:latin typeface="Segoe UI"/>
              </a:rPr>
              <a:t> Stop fake bots before paying for expensive KYC verification!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0000" y="1150000"/>
            <a:ext cx="160000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defRPr sz="3600" b="1">
                <a:solidFill>
                  <a:srgbClr val="0F172A"/>
                </a:solidFill>
                <a:latin typeface="Hahmlet Bold"/>
              </a:defRPr>
            </a:pPr>
            <a:r>
              <a:t>PROPOSED SOLUTION: TWO-KEY HYPERGRAPH DEFENSE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60467" y="-8127811"/>
            <a:ext cx="0" cy="19087298"/>
          </a:xfrm>
          <a:prstGeom prst="line">
            <a:avLst/>
          </a:prstGeom>
          <a:ln cap="flat" w="95250">
            <a:solidFill>
              <a:srgbClr val="8D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99649" y="981075"/>
            <a:ext cx="1908729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757282" y="3583222"/>
            <a:ext cx="8773437" cy="3120557"/>
          </a:xfrm>
          <a:custGeom>
            <a:avLst/>
            <a:gdLst/>
            <a:ahLst/>
            <a:cxnLst/>
            <a:rect r="r" b="b" t="t" l="l"/>
            <a:pathLst>
              <a:path h="3120557" w="877343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1100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0284C7"/>
                </a:solidFill>
                <a:latin typeface="Hahmlet Bold"/>
              </a:defRPr>
            </a:pPr>
            <a:r>
              <a:t>THE TWO-KEY ARCHITECTURE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Key 1 (&lt;0.02ms Fast Filter):</a:t>
            </a:r>
            <a:r>
              <a:rPr sz="1750" b="0">
                <a:solidFill>
                  <a:srgbClr val="1E293B"/>
                </a:solidFill>
                <a:latin typeface="Segoe UI"/>
              </a:rPr>
              <a:t> Catches simple bots on Step 1 (no mouse movement, instant script clicks).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Key 2 (Hypergraph Engine):</a:t>
            </a:r>
            <a:r>
              <a:rPr sz="1750" b="0">
                <a:solidFill>
                  <a:srgbClr val="1E293B"/>
                </a:solidFill>
                <a:latin typeface="Segoe UI"/>
              </a:rPr>
              <a:t> Catches smart bots by checking relationships between all active users.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Group Detection:</a:t>
            </a:r>
            <a:r>
              <a:rPr sz="1750" b="0">
                <a:solidFill>
                  <a:srgbClr val="1E293B"/>
                </a:solidFill>
                <a:latin typeface="Segoe UI"/>
              </a:rPr>
              <a:t> Groups coordinated bots together into clusters using graph modularity (Q = 0.81).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Zero Cloud Delay:</a:t>
            </a:r>
            <a:r>
              <a:rPr sz="1750" b="0">
                <a:solidFill>
                  <a:srgbClr val="1E293B"/>
                </a:solidFill>
                <a:latin typeface="Segoe UI"/>
              </a:rPr>
              <a:t> Runs 100% locally on the bank server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4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059669"/>
                </a:solidFill>
                <a:latin typeface="Hahmlet Bold"/>
              </a:defRPr>
            </a:pPr>
            <a:r>
              <a:t>5-LAYER INTERACTION PHYSICS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Layer 1 (Timing):</a:t>
            </a:r>
            <a:r>
              <a:rPr sz="1700" b="0">
                <a:solidFill>
                  <a:srgbClr val="1E293B"/>
                </a:solidFill>
                <a:latin typeface="Segoe UI"/>
              </a:rPr>
              <a:t> Spots bots submitting forms in synchronized bursts.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Layer 2 (Navigation):</a:t>
            </a:r>
            <a:r>
              <a:rPr sz="1700" b="0">
                <a:solidFill>
                  <a:srgbClr val="1E293B"/>
                </a:solidFill>
                <a:latin typeface="Segoe UI"/>
              </a:rPr>
              <a:t> Spots identical form-fill sequences and click paths.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Layer 3 (Loan Reason):</a:t>
            </a:r>
            <a:r>
              <a:rPr sz="1700" b="0">
                <a:solidFill>
                  <a:srgbClr val="1E293B"/>
                </a:solidFill>
                <a:latin typeface="Segoe UI"/>
              </a:rPr>
              <a:t> Semantic text vectors find similar story patterns.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Layer 4 (Mouse Motion):</a:t>
            </a:r>
            <a:r>
              <a:rPr sz="1700" b="0">
                <a:solidFill>
                  <a:srgbClr val="1E293B"/>
                </a:solidFill>
                <a:latin typeface="Segoe UI"/>
              </a:rPr>
              <a:t> Human hand tremor (8–12 Hz) vs smooth bot curves.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• Layer 5 (Hardware):</a:t>
            </a:r>
            <a:r>
              <a:rPr sz="1700" b="0">
                <a:solidFill>
                  <a:srgbClr val="1E293B"/>
                </a:solidFill>
                <a:latin typeface="Segoe UI"/>
              </a:rPr>
              <a:t> WebGL &amp; Canvas browser fingerprints.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★ 3-Layer Rule:</a:t>
            </a:r>
            <a:r>
              <a:rPr sz="1700" b="0">
                <a:solidFill>
                  <a:srgbClr val="1E293B"/>
                </a:solidFill>
                <a:latin typeface="Segoe UI"/>
              </a:rPr>
              <a:t> Connects accounts only if 3+ independent layers match!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88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7C3AED"/>
                </a:solidFill>
                <a:latin typeface="Hahmlet Bold"/>
              </a:defRPr>
            </a:pPr>
            <a:r>
              <a:t>ETHICAL &amp; REVERSIBLE RAILS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Campus Wi-Fi Safe:</a:t>
            </a:r>
            <a:r>
              <a:rPr sz="1750" b="0">
                <a:solidFill>
                  <a:srgbClr val="1E293B"/>
                </a:solidFill>
                <a:latin typeface="Segoe UI"/>
              </a:rPr>
              <a:t> Does not block real students sharing the same Wi-Fi (0% False Positives).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₹1 UPI Step-Up:</a:t>
            </a:r>
            <a:r>
              <a:rPr sz="1750" b="0">
                <a:solidFill>
                  <a:srgbClr val="1E293B"/>
                </a:solidFill>
                <a:latin typeface="Segoe UI"/>
              </a:rPr>
              <a:t> Trapped users can clear their account in &lt;10s via a ₹1 UPI check.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Why Bots Fail UPI:</a:t>
            </a:r>
            <a:r>
              <a:rPr sz="1750" b="0">
                <a:solidFill>
                  <a:srgbClr val="1E293B"/>
                </a:solidFill>
                <a:latin typeface="Segoe UI"/>
              </a:rPr>
              <a:t> Headless bots cannot bypass SIM-binding or secret MPINs at scale.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Capital Saved:</a:t>
            </a:r>
            <a:r>
              <a:rPr sz="1750" b="0">
                <a:solidFill>
                  <a:srgbClr val="1E293B"/>
                </a:solidFill>
                <a:latin typeface="Segoe UI"/>
              </a:rPr>
              <a:t> Saves ₹61.00 per bot by locking out fake KYC lookups.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0000" y="1150000"/>
            <a:ext cx="160000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defRPr sz="3600" b="1">
                <a:solidFill>
                  <a:srgbClr val="0F172A"/>
                </a:solidFill>
                <a:latin typeface="Hahmlet Bold"/>
              </a:defRPr>
            </a:pPr>
            <a:r>
              <a:t>TECHNOLOGY STACK: 4-STATION ECOSYSTEM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60467" y="-8127811"/>
            <a:ext cx="0" cy="19087298"/>
          </a:xfrm>
          <a:prstGeom prst="line">
            <a:avLst/>
          </a:prstGeom>
          <a:ln cap="flat" w="95250">
            <a:solidFill>
              <a:srgbClr val="8D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99649" y="981075"/>
            <a:ext cx="1908729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757282" y="3583222"/>
            <a:ext cx="8773437" cy="3120557"/>
          </a:xfrm>
          <a:custGeom>
            <a:avLst/>
            <a:gdLst/>
            <a:ahLst/>
            <a:cxnLst/>
            <a:rect r="r" b="b" t="t" l="l"/>
            <a:pathLst>
              <a:path h="3120557" w="877343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1100000" y="2350000"/>
            <a:ext cx="7850000" cy="355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100" b="1">
                <a:solidFill>
                  <a:srgbClr val="0284C7"/>
                </a:solidFill>
                <a:latin typeface="Hahmlet Bold"/>
              </a:defRPr>
            </a:pPr>
            <a:r>
              <a:t>STATION 2: GATEWAY &amp; GRAPH (PETE)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FastAPI &amp; Uvicorn:</a:t>
            </a:r>
            <a:r>
              <a:rPr sz="1600" b="0">
                <a:solidFill>
                  <a:srgbClr val="1E293B"/>
                </a:solidFill>
                <a:latin typeface="Segoe UI"/>
              </a:rPr>
              <a:t> High-speed event ingestion on 0.0.0.0:8000 with WebSockets.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NetworkX &amp; NumPy:</a:t>
            </a:r>
            <a:r>
              <a:rPr sz="1600" b="0">
                <a:solidFill>
                  <a:srgbClr val="1E293B"/>
                </a:solidFill>
                <a:latin typeface="Segoe UI"/>
              </a:rPr>
              <a:t> Multi-layer graph math and community clustering algorithms.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SQLite &amp; SQLAlchemy:</a:t>
            </a:r>
            <a:r>
              <a:rPr sz="1600" b="0">
                <a:solidFill>
                  <a:srgbClr val="1E293B"/>
                </a:solidFill>
                <a:latin typeface="Segoe UI"/>
              </a:rPr>
              <a:t> Fast, thread-safe database for sessions and telemetry.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Local CPU Vectors:</a:t>
            </a:r>
            <a:r>
              <a:rPr sz="1600" b="0">
                <a:solidFill>
                  <a:srgbClr val="1E293B"/>
                </a:solidFill>
                <a:latin typeface="Segoe UI"/>
              </a:rPr>
              <a:t> 384-dimensional text embeddings running offline in &lt;0.2ms.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50000" y="2350000"/>
            <a:ext cx="7850000" cy="355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100" b="1">
                <a:solidFill>
                  <a:srgbClr val="059669"/>
                </a:solidFill>
                <a:latin typeface="Hahmlet Bold"/>
              </a:defRPr>
            </a:pPr>
            <a:r>
              <a:t>STATION 3: ZERO-PII TELEMETRY (AISWARYA)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Zero-PII SDK:</a:t>
            </a:r>
            <a:r>
              <a:rPr sz="1600" b="0">
                <a:solidFill>
                  <a:srgbClr val="1E293B"/>
                </a:solidFill>
                <a:latin typeface="Segoe UI"/>
              </a:rPr>
              <a:t> Tracks mouse and typing timing; never records text or passwords.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Typing Dynamics:</a:t>
            </a:r>
            <a:r>
              <a:rPr sz="1600" b="0">
                <a:solidFill>
                  <a:srgbClr val="1E293B"/>
                </a:solidFill>
                <a:latin typeface="Segoe UI"/>
              </a:rPr>
              <a:t> Measures millisecond timing between key presses.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Honey-DOM Trap:</a:t>
            </a:r>
            <a:r>
              <a:rPr sz="1600" b="0">
                <a:solidFill>
                  <a:srgbClr val="1E293B"/>
                </a:solidFill>
                <a:latin typeface="Segoe UI"/>
              </a:rPr>
              <a:t> Hidden button that only automated bots click.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HMAC-SHA256:</a:t>
            </a:r>
            <a:r>
              <a:rPr sz="1600" b="0">
                <a:solidFill>
                  <a:srgbClr val="1E293B"/>
                </a:solidFill>
                <a:latin typeface="Segoe UI"/>
              </a:rPr>
              <a:t> Cryptographic packet signing stops fake cURL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000" y="6250000"/>
            <a:ext cx="7850000" cy="355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100" b="1">
                <a:solidFill>
                  <a:srgbClr val="D97706"/>
                </a:solidFill>
                <a:latin typeface="Hahmlet Bold"/>
              </a:defRPr>
            </a:pPr>
            <a:r>
              <a:t>STATIONS 1 &amp; 3: 3D COCKPIT &amp; SWARMS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Three.js 3D Cockpit:</a:t>
            </a:r>
            <a:r>
              <a:rPr sz="1600" b="0">
                <a:solidFill>
                  <a:srgbClr val="1E293B"/>
                </a:solidFill>
                <a:latin typeface="Segoe UI"/>
              </a:rPr>
              <a:t> Interactive 60 FPS graph visualizer with 1-click quarantine.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Playwright Swarm:</a:t>
            </a:r>
            <a:r>
              <a:rPr sz="1600" b="0">
                <a:solidFill>
                  <a:srgbClr val="1E293B"/>
                </a:solidFill>
                <a:latin typeface="Segoe UI"/>
              </a:rPr>
              <a:t> Launches 20 synchronized bots testing the system (&lt;600MB RAM).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Realistic Mouse Curves:</a:t>
            </a:r>
            <a:r>
              <a:rPr sz="1600" b="0">
                <a:solidFill>
                  <a:srgbClr val="1E293B"/>
                </a:solidFill>
                <a:latin typeface="Segoe UI"/>
              </a:rPr>
              <a:t> Simulates natural mouse movement physics.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NVIDIA NIM API:</a:t>
            </a:r>
            <a:r>
              <a:rPr sz="1600" b="0">
                <a:solidFill>
                  <a:srgbClr val="1E293B"/>
                </a:solidFill>
                <a:latin typeface="Segoe UI"/>
              </a:rPr>
              <a:t> Fast persona generation for test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50000" y="6250000"/>
            <a:ext cx="7850000" cy="355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100" b="1">
                <a:solidFill>
                  <a:srgbClr val="7C3AED"/>
                </a:solidFill>
                <a:latin typeface="Hahmlet Bold"/>
              </a:defRPr>
            </a:pPr>
            <a:r>
              <a:t>STATION 4: COURTROOM SAR &amp; COMPLIANCE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ReportLab PDF:</a:t>
            </a:r>
            <a:r>
              <a:rPr sz="1600" b="0">
                <a:solidFill>
                  <a:srgbClr val="1E293B"/>
                </a:solidFill>
                <a:latin typeface="Segoe UI"/>
              </a:rPr>
              <a:t> Instant 2-page bank-grade legal report generated in &lt;20ms.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Statistical Proof:</a:t>
            </a:r>
            <a:r>
              <a:rPr sz="1600" b="0">
                <a:solidFill>
                  <a:srgbClr val="1E293B"/>
                </a:solidFill>
                <a:latin typeface="Segoe UI"/>
              </a:rPr>
              <a:t> 500 graph permutations prove bots are coordinated (p = 0.0002).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HMAC Digital Seal:</a:t>
            </a:r>
            <a:r>
              <a:rPr sz="1600" b="0">
                <a:solidFill>
                  <a:srgbClr val="1E293B"/>
                </a:solidFill>
                <a:latin typeface="Segoe UI"/>
              </a:rPr>
              <a:t> Cryptographic signature for courtroom admissibility.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Banking Compliance:</a:t>
            </a:r>
            <a:r>
              <a:rPr sz="1600" b="0">
                <a:solidFill>
                  <a:srgbClr val="1E293B"/>
                </a:solidFill>
                <a:latin typeface="Segoe UI"/>
              </a:rPr>
              <a:t> Aligns with RBI Digital Lending &amp; ECOA fair lending guidelines.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0000" y="1150000"/>
            <a:ext cx="160000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defRPr sz="3600" b="1">
                <a:solidFill>
                  <a:srgbClr val="0F172A"/>
                </a:solidFill>
                <a:latin typeface="Hahmlet Bold"/>
              </a:defRPr>
            </a:pPr>
            <a:r>
              <a:t>PROTOTYPE DEMO &amp; CYBER RANGE BENCHMARKS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60467" y="-8127811"/>
            <a:ext cx="0" cy="19087298"/>
          </a:xfrm>
          <a:prstGeom prst="line">
            <a:avLst/>
          </a:prstGeom>
          <a:ln cap="flat" w="95250">
            <a:solidFill>
              <a:srgbClr val="8D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99649" y="981075"/>
            <a:ext cx="1908729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757282" y="3583222"/>
            <a:ext cx="8773437" cy="3120557"/>
          </a:xfrm>
          <a:custGeom>
            <a:avLst/>
            <a:gdLst/>
            <a:ahLst/>
            <a:cxnLst/>
            <a:rect r="r" b="b" t="t" l="l"/>
            <a:pathLst>
              <a:path h="3120557" w="877343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1100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0284C7"/>
                </a:solidFill>
                <a:latin typeface="Hahmlet Bold"/>
              </a:defRPr>
            </a:pPr>
            <a:r>
              <a:t>4-STATION CYBER RANGE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Station 1 (Alan @ 10.215.30.174):</a:t>
            </a:r>
            <a:r>
              <a:rPr sz="1750" b="0">
                <a:solidFill>
                  <a:srgbClr val="1E293B"/>
                </a:solidFill>
                <a:latin typeface="Segoe UI"/>
              </a:rPr>
              <a:t> Playwright swarm launches 20 stealth bots in 1.4s.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Station 2 (Pete @ 10.215.30.162):</a:t>
            </a:r>
            <a:r>
              <a:rPr sz="1750" b="0">
                <a:solidFill>
                  <a:srgbClr val="1E293B"/>
                </a:solidFill>
                <a:latin typeface="Segoe UI"/>
              </a:rPr>
              <a:t> Central Fedora gateway running live graph clustering.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Station 3 (Aiswarya @ 10.215.30.204):</a:t>
            </a:r>
            <a:r>
              <a:rPr sz="1750" b="0">
                <a:solidFill>
                  <a:srgbClr val="1E293B"/>
                </a:solidFill>
                <a:latin typeface="Segoe UI"/>
              </a:rPr>
              <a:t> Borrower portal with live ₹1 UPI verification popup.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Station 4 (Nihad &amp; Ashlin):</a:t>
            </a:r>
            <a:r>
              <a:rPr sz="1750" b="0">
                <a:solidFill>
                  <a:srgbClr val="1E293B"/>
                </a:solidFill>
                <a:latin typeface="Segoe UI"/>
              </a:rPr>
              <a:t> Generates bank-grade 2-page courtroom PDF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4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059669"/>
                </a:solidFill>
                <a:latin typeface="Hahmlet Bold"/>
              </a:defRPr>
            </a:pPr>
            <a:r>
              <a:t>TEST RESULTS (120 SESSIONS)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100% Precision:</a:t>
            </a:r>
            <a:r>
              <a:rPr sz="1750" b="0">
                <a:solidFill>
                  <a:srgbClr val="1E293B"/>
                </a:solidFill>
                <a:latin typeface="Segoe UI"/>
              </a:rPr>
              <a:t> Zero real users wrongly blocked.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100% Recall:</a:t>
            </a:r>
            <a:r>
              <a:rPr sz="1750" b="0">
                <a:solidFill>
                  <a:srgbClr val="1E293B"/>
                </a:solidFill>
                <a:latin typeface="Segoe UI"/>
              </a:rPr>
              <a:t> Caught all 20/20 stealth bots (vs 0% caught by traditional tools).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Campus Wi-Fi Safe:</a:t>
            </a:r>
            <a:r>
              <a:rPr sz="1750" b="0">
                <a:solidFill>
                  <a:srgbClr val="1E293B"/>
                </a:solidFill>
                <a:latin typeface="Segoe UI"/>
              </a:rPr>
              <a:t> 0 / 30 false alarms on shared college network.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Math Proof:</a:t>
            </a:r>
            <a:r>
              <a:rPr sz="1750" b="0">
                <a:solidFill>
                  <a:srgbClr val="1E293B"/>
                </a:solidFill>
                <a:latin typeface="Segoe UI"/>
              </a:rPr>
              <a:t> Graph Modularity Q = 0.8118 (p = 0.0002, 99.98% confidence).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Real Savings:</a:t>
            </a:r>
            <a:r>
              <a:rPr sz="1750" b="0">
                <a:solidFill>
                  <a:srgbClr val="1E293B"/>
                </a:solidFill>
                <a:latin typeface="Segoe UI"/>
              </a:rPr>
              <a:t> Saved ₹2,440 across 40 blocked test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88000" y="2400000"/>
            <a:ext cx="5100000" cy="7300000"/>
          </a:xfrm>
          <a:prstGeom prst="roundRect">
            <a:avLst/>
          </a:prstGeom>
          <a:noFill/>
          <a:ln w="222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28600"/>
          <a:lstStyle/>
          <a:p>
            <a:pPr algn="ctr">
              <a:spcAft>
                <a:spcPts val="1400"/>
              </a:spcAft>
              <a:defRPr sz="2400" b="1">
                <a:solidFill>
                  <a:srgbClr val="4338CA"/>
                </a:solidFill>
                <a:latin typeface="Hahmlet Bold"/>
              </a:defRPr>
            </a:pPr>
            <a:r>
              <a:t>5-ACT LIVE DEMO SCRIPT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Act 1 (Real User):</a:t>
            </a:r>
            <a:r>
              <a:rPr sz="1750" b="0">
                <a:solidFill>
                  <a:srgbClr val="1E293B"/>
                </a:solidFill>
                <a:latin typeface="Segoe UI"/>
              </a:rPr>
              <a:t> Aiswarya applies naturally -&gt; Key 1 &amp; 2 clear -&gt; Instant approval.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Act 2 (Bot Swarm):</a:t>
            </a:r>
            <a:r>
              <a:rPr sz="1750" b="0">
                <a:solidFill>
                  <a:srgbClr val="1E293B"/>
                </a:solidFill>
                <a:latin typeface="Segoe UI"/>
              </a:rPr>
              <a:t> Alan triggers 20 bots -&gt; 3D cockpit collapses them into a red cluster.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Act 3 (1-Click Block):</a:t>
            </a:r>
            <a:r>
              <a:rPr sz="1750" b="0">
                <a:solidFill>
                  <a:srgbClr val="1E293B"/>
                </a:solidFill>
                <a:latin typeface="Segoe UI"/>
              </a:rPr>
              <a:t> Pete clicks quarantine -&gt; All 20 bots locked down instantly.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Act 4 (UPI Recovery):</a:t>
            </a:r>
            <a:r>
              <a:rPr sz="1750" b="0">
                <a:solidFill>
                  <a:srgbClr val="1E293B"/>
                </a:solidFill>
                <a:latin typeface="Segoe UI"/>
              </a:rPr>
              <a:t> Blocked user applies -&gt; ₹1 UPI popup appears -&gt; Cleared in &lt;10s!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0F172A"/>
                </a:solidFill>
                <a:latin typeface="Segoe UI"/>
              </a:rPr>
              <a:t>• Act 5 (Legal Report):</a:t>
            </a:r>
            <a:r>
              <a:rPr sz="1750" b="0">
                <a:solidFill>
                  <a:srgbClr val="1E293B"/>
                </a:solidFill>
                <a:latin typeface="Segoe UI"/>
              </a:rPr>
              <a:t> Download 2-page courtroom-ready PDF report with HMAC seal.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DAHXB26GUm4</dc:identifier>
  <dcterms:modified xsi:type="dcterms:W3CDTF">2011-08-01T06:04:30Z</dcterms:modified>
  <cp:revision>1</cp:revision>
  <dc:title>Hackathena PPT Template</dc:title>
</cp:coreProperties>
</file>